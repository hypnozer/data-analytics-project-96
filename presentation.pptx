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a2281cdf54a89" /><Relationship Type="http://schemas.openxmlformats.org/officeDocument/2006/relationships/extended-properties" Target="/docProps/app.xml" Id="Rb0885bc4a821403f" /><Relationship Type="http://schemas.openxmlformats.org/officeDocument/2006/relationships/officeDocument" Target="/ppt/presentation.xml" Id="R2bc479301d6243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e630d220a2435e"/>
  </p:sldMasterIdLst>
  <p:notesMasterIdLst>
    <p:notesMasterId xmlns:r="http://schemas.openxmlformats.org/officeDocument/2006/relationships" r:id="Re9f43f2284be4e30"/>
  </p:notesMasterIdLst>
  <p:sldIdLst>
    <p:sldId xmlns:r="http://schemas.openxmlformats.org/officeDocument/2006/relationships" id="256" r:id="Rf48657dae5824f64"/>
    <p:sldId xmlns:r="http://schemas.openxmlformats.org/officeDocument/2006/relationships" id="257" r:id="R48d6af27bb8c42b6"/>
    <p:sldId xmlns:r="http://schemas.openxmlformats.org/officeDocument/2006/relationships" id="258" r:id="R3b7181898e10407c"/>
    <p:sldId xmlns:r="http://schemas.openxmlformats.org/officeDocument/2006/relationships" id="259" r:id="R6a1e644e19d242b5"/>
    <p:sldId xmlns:r="http://schemas.openxmlformats.org/officeDocument/2006/relationships" id="260" r:id="R3c4f7bc8795f49af"/>
    <p:sldId xmlns:r="http://schemas.openxmlformats.org/officeDocument/2006/relationships" id="261" r:id="R213892bff15b411c"/>
    <p:sldId xmlns:r="http://schemas.openxmlformats.org/officeDocument/2006/relationships" id="262" r:id="Rca671bc80eb14599"/>
    <p:sldId xmlns:r="http://schemas.openxmlformats.org/officeDocument/2006/relationships" id="263" r:id="Re6c332c20d34490f"/>
    <p:sldId xmlns:r="http://schemas.openxmlformats.org/officeDocument/2006/relationships" id="264" r:id="R1309f1f0560e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45e57b91fd4d47" /><Relationship Type="http://schemas.openxmlformats.org/officeDocument/2006/relationships/slideMaster" Target="/ppt/slideMasters/slideMaster1.xml" Id="R98e630d220a2435e" /><Relationship Type="http://schemas.openxmlformats.org/officeDocument/2006/relationships/notesMaster" Target="/ppt/notesMasters/notesMaster1.xml" Id="Re9f43f2284be4e30" /><Relationship Type="http://schemas.openxmlformats.org/officeDocument/2006/relationships/presProps" Target="/ppt/presProps.xml" Id="Rce1ceb5b82f242cd" /><Relationship Type="http://schemas.openxmlformats.org/officeDocument/2006/relationships/tableStyles" Target="/ppt/tableStyles.xml" Id="Ra0ab1479edcc4cbf" /><Relationship Type="http://schemas.openxmlformats.org/officeDocument/2006/relationships/slide" Target="/ppt/slides/slide1.xml" Id="Rf48657dae5824f64" /><Relationship Type="http://schemas.openxmlformats.org/officeDocument/2006/relationships/slide" Target="/ppt/slides/slide2.xml" Id="R48d6af27bb8c42b6" /><Relationship Type="http://schemas.openxmlformats.org/officeDocument/2006/relationships/slide" Target="/ppt/slides/slide3.xml" Id="R3b7181898e10407c" /><Relationship Type="http://schemas.openxmlformats.org/officeDocument/2006/relationships/slide" Target="/ppt/slides/slide4.xml" Id="R6a1e644e19d242b5" /><Relationship Type="http://schemas.openxmlformats.org/officeDocument/2006/relationships/slide" Target="/ppt/slides/slide5.xml" Id="R3c4f7bc8795f49af" /><Relationship Type="http://schemas.openxmlformats.org/officeDocument/2006/relationships/slide" Target="/ppt/slides/slide6.xml" Id="R213892bff15b411c" /><Relationship Type="http://schemas.openxmlformats.org/officeDocument/2006/relationships/slide" Target="/ppt/slides/slide7.xml" Id="Rca671bc80eb14599" /><Relationship Type="http://schemas.openxmlformats.org/officeDocument/2006/relationships/slide" Target="/ppt/slides/slide8.xml" Id="Re6c332c20d34490f" /><Relationship Type="http://schemas.openxmlformats.org/officeDocument/2006/relationships/slide" Target="/ppt/slides/slide9.xml" Id="R1309f1f0560e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1fc58eb464b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3c477fc49a4d9e" /><Relationship Type="http://schemas.openxmlformats.org/officeDocument/2006/relationships/notesMaster" Target="/ppt/notesMasters/notesMaster1.xml" Id="R5f1ef82bd2cb41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96d7b4444e48c4" /><Relationship Type="http://schemas.openxmlformats.org/officeDocument/2006/relationships/notesMaster" Target="/ppt/notesMasters/notesMaster1.xml" Id="R944ecd5a00804d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f747e5f441426a" /><Relationship Type="http://schemas.openxmlformats.org/officeDocument/2006/relationships/notesMaster" Target="/ppt/notesMasters/notesMaster1.xml" Id="R0523a810b1f3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7e4b247e04d6e" /><Relationship Type="http://schemas.openxmlformats.org/officeDocument/2006/relationships/notesMaster" Target="/ppt/notesMasters/notesMaster1.xml" Id="R1e6212a0bc1340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751c2f91be4a84" /><Relationship Type="http://schemas.openxmlformats.org/officeDocument/2006/relationships/notesMaster" Target="/ppt/notesMasters/notesMaster1.xml" Id="R166bb0f0247442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58924fd2b74db7" /><Relationship Type="http://schemas.openxmlformats.org/officeDocument/2006/relationships/notesMaster" Target="/ppt/notesMasters/notesMaster1.xml" Id="R25c97305a4c84a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6c80f4f0ce4e87" /><Relationship Type="http://schemas.openxmlformats.org/officeDocument/2006/relationships/notesMaster" Target="/ppt/notesMasters/notesMaster1.xml" Id="R38b36560fdcf41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2e374173424c42" /><Relationship Type="http://schemas.openxmlformats.org/officeDocument/2006/relationships/notesMaster" Target="/ppt/notesMasters/notesMaster1.xml" Id="Rcf96d0d42c9840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d1f2fa23c14066" /><Relationship Type="http://schemas.openxmlformats.org/officeDocument/2006/relationships/notesMaster" Target="/ppt/notesMasters/notesMaster1.xml" Id="R8c52331c37ef45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https://github.com/hypnozer/data-analytics-project-96/blob/main/dashboard.sql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120f205a04b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704d4c6c4945ad" /><Relationship Type="http://schemas.openxmlformats.org/officeDocument/2006/relationships/slideLayout" Target="/ppt/slideLayouts/slideLayout1.xml" Id="R8d701ea2125741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01ea2125741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3f322889742b0" /><Relationship Type="http://schemas.openxmlformats.org/officeDocument/2006/relationships/notesSlide" Target="/ppt/notesSlides/notesSlide1.xml" Id="Rd7737438aa244b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b0508bfaf4e8c" /><Relationship Type="http://schemas.openxmlformats.org/officeDocument/2006/relationships/notesSlide" Target="/ppt/notesSlides/notesSlide2.xml" Id="Rf12c42cd6df44a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56fcae42144e1" /><Relationship Type="http://schemas.openxmlformats.org/officeDocument/2006/relationships/chart" Target="/ppt/slides/charts/chart1.xml" Id="R990c75f66151427d" /><Relationship Type="http://schemas.openxmlformats.org/officeDocument/2006/relationships/notesSlide" Target="/ppt/notesSlides/notesSlide3.xml" Id="R8311fc3c7e0b4b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e2f058e3a4a77" /><Relationship Type="http://schemas.openxmlformats.org/officeDocument/2006/relationships/chart" Target="/ppt/slides/charts/chart2.xml" Id="R6a0c74ff88bb4f1e" /><Relationship Type="http://schemas.openxmlformats.org/officeDocument/2006/relationships/notesSlide" Target="/ppt/notesSlides/notesSlide4.xml" Id="Rfcc34fbd410248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a593215cc421a" /><Relationship Type="http://schemas.openxmlformats.org/officeDocument/2006/relationships/chart" Target="/ppt/slides/charts/chart3.xml" Id="R102b72a3dd044d47" /><Relationship Type="http://schemas.openxmlformats.org/officeDocument/2006/relationships/notesSlide" Target="/ppt/notesSlides/notesSlide5.xml" Id="R58083bff6fdd4f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ff3fc2ba44499" /><Relationship Type="http://schemas.openxmlformats.org/officeDocument/2006/relationships/notesSlide" Target="/ppt/notesSlides/notesSlide6.xml" Id="R4e234a2eeeef4c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b8d870dd94aac" /><Relationship Type="http://schemas.openxmlformats.org/officeDocument/2006/relationships/chart" Target="/ppt/slides/charts/chart4.xml" Id="Refea8f2e8b0d41c5" /><Relationship Type="http://schemas.openxmlformats.org/officeDocument/2006/relationships/notesSlide" Target="/ppt/notesSlides/notesSlide7.xml" Id="R7980ab4231e64a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ed9c3cc0f408d" /><Relationship Type="http://schemas.openxmlformats.org/officeDocument/2006/relationships/chart" Target="/ppt/slides/charts/chart5.xml" Id="Rc0098ba2f934417b" /><Relationship Type="http://schemas.openxmlformats.org/officeDocument/2006/relationships/notesSlide" Target="/ppt/notesSlides/notesSlide8.xml" Id="Re5500d35df2442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c10c0fe544249" /><Relationship Type="http://schemas.openxmlformats.org/officeDocument/2006/relationships/notesSlide" Target="/ppt/notesSlides/notesSlide9.xml" Id="Rfccc7d1db51c46a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ROI, %</c:v>
          </c:tx>
          <c:spPr>
            <a:solidFill xmlns:a="http://schemas.openxmlformats.org/drawingml/2006/main">
              <a:srgbClr val="156CC1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0343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55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Яндекс</c:v>
                </c:pt>
                <c:pt idx="1">
                  <c:v>VK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-10.29</c:v>
                </c:pt>
                <c:pt idx="1">
                  <c:v>37.05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525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ROI,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ROI, %</c:v>
          </c:tx>
          <c:spPr>
            <a:solidFill xmlns:a="http://schemas.openxmlformats.org/drawingml/2006/main">
              <a:srgbClr val="156CC1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8755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55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8755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0343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B0343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B03435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Яндекс
freemium</c:v>
                </c:pt>
                <c:pt idx="1">
                  <c:v>Яндекс
base-python</c:v>
                </c:pt>
                <c:pt idx="2">
                  <c:v>VK
prof-python</c:v>
                </c:pt>
                <c:pt idx="3">
                  <c:v>Яндекс
prof-frontend</c:v>
                </c:pt>
                <c:pt idx="4">
                  <c:v>Яндекс
prof-python</c:v>
                </c:pt>
                <c:pt idx="5">
                  <c:v>Яндекс
prof-java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229.81</c:v>
                </c:pt>
                <c:pt idx="1">
                  <c:v>174.42</c:v>
                </c:pt>
                <c:pt idx="2">
                  <c:v>144.63</c:v>
                </c:pt>
                <c:pt idx="3">
                  <c:v>-42.16</c:v>
                </c:pt>
                <c:pt idx="4">
                  <c:v>-51.09</c:v>
                </c:pt>
                <c:pt idx="5">
                  <c:v>-71.29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525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ROI,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Количество</c:v>
          </c:tx>
          <c:spPr>
            <a:solidFill xmlns:a="http://schemas.openxmlformats.org/drawingml/2006/main">
              <a:srgbClr val="156CC1"/>
            </a:solidFill>
          </c:spPr>
          <c:cat>
            <c:strRef>
              <c:f>'Chart Data'!$A$2:$A$3</c:f>
              <c:strCache>
                <c:ptCount val="2"/>
                <c:pt idx="0">
                  <c:v>Связанные лиды</c:v>
                </c:pt>
                <c:pt idx="1">
                  <c:v>Успешные сделки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706</c:v>
                </c:pt>
                <c:pt idx="1">
                  <c:v>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525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Количество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Органические пользователи</c:v>
          </c:tx>
          <c:spPr>
            <a:ln xmlns:a="http://schemas.openxmlformats.org/drawingml/2006/main" w="28575">
              <a:solidFill>
                <a:srgbClr val="087557"/>
              </a:solidFill>
            </a:ln>
          </c:spPr>
          <c:marker>
            <c:symbol val="none"/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</c:formatCode>
                <c:ptCount val="30"/>
                <c:pt idx="0">
                  <c:v>153.22</c:v>
                </c:pt>
                <c:pt idx="1">
                  <c:v>130.96</c:v>
                </c:pt>
                <c:pt idx="2">
                  <c:v>87.33</c:v>
                </c:pt>
                <c:pt idx="3">
                  <c:v>35.22</c:v>
                </c:pt>
                <c:pt idx="4">
                  <c:v>131.33</c:v>
                </c:pt>
                <c:pt idx="5">
                  <c:v>138.65</c:v>
                </c:pt>
                <c:pt idx="6">
                  <c:v>41.73</c:v>
                </c:pt>
                <c:pt idx="7">
                  <c:v>142.15</c:v>
                </c:pt>
                <c:pt idx="8">
                  <c:v>125.72</c:v>
                </c:pt>
                <c:pt idx="9">
                  <c:v>78.77</c:v>
                </c:pt>
                <c:pt idx="10">
                  <c:v>88.22</c:v>
                </c:pt>
                <c:pt idx="11">
                  <c:v>112.76</c:v>
                </c:pt>
                <c:pt idx="12">
                  <c:v>40.53</c:v>
                </c:pt>
                <c:pt idx="13">
                  <c:v>143.47</c:v>
                </c:pt>
                <c:pt idx="14">
                  <c:v>128.61</c:v>
                </c:pt>
                <c:pt idx="15">
                  <c:v>125.44</c:v>
                </c:pt>
                <c:pt idx="16">
                  <c:v>86.93</c:v>
                </c:pt>
                <c:pt idx="17">
                  <c:v>81.66</c:v>
                </c:pt>
                <c:pt idx="18">
                  <c:v>29.83</c:v>
                </c:pt>
                <c:pt idx="19">
                  <c:v>146.87</c:v>
                </c:pt>
                <c:pt idx="20">
                  <c:v>41.72</c:v>
                </c:pt>
                <c:pt idx="21">
                  <c:v>84.42</c:v>
                </c:pt>
                <c:pt idx="22">
                  <c:v>119.81</c:v>
                </c:pt>
                <c:pt idx="23">
                  <c:v>69.7</c:v>
                </c:pt>
                <c:pt idx="24">
                  <c:v>88.64</c:v>
                </c:pt>
                <c:pt idx="25">
                  <c:v>120.94</c:v>
                </c:pt>
                <c:pt idx="26">
                  <c:v>137.04</c:v>
                </c:pt>
                <c:pt idx="27">
                  <c:v>131.15</c:v>
                </c:pt>
                <c:pt idx="28">
                  <c:v>124.23</c:v>
                </c:pt>
                <c:pt idx="29">
                  <c:v>32.94</c:v>
                </c:pt>
              </c:numCache>
            </c:numRef>
          </c:val>
          <c:smooth val="0"/>
        </c:ser>
        <c:ser>
          <c:idx val="1"/>
          <c:order val="1"/>
          <c:tx>
            <c:v>Рекламные расходы</c:v>
          </c:tx>
          <c:spPr>
            <a:ln xmlns:a="http://schemas.openxmlformats.org/drawingml/2006/main" w="28575">
              <a:solidFill>
                <a:srgbClr val="156CC1"/>
              </a:solidFill>
            </a:ln>
          </c:spPr>
          <c:marker>
            <c:symbol val="none"/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</c:formatCode>
                <c:ptCount val="30"/>
                <c:pt idx="0">
                  <c:v>108.92</c:v>
                </c:pt>
                <c:pt idx="1">
                  <c:v>124.45</c:v>
                </c:pt>
                <c:pt idx="2">
                  <c:v>111.79</c:v>
                </c:pt>
                <c:pt idx="3">
                  <c:v>99.4</c:v>
                </c:pt>
                <c:pt idx="4">
                  <c:v>106.89</c:v>
                </c:pt>
                <c:pt idx="5">
                  <c:v>112.54</c:v>
                </c:pt>
                <c:pt idx="6">
                  <c:v>100.32</c:v>
                </c:pt>
                <c:pt idx="7">
                  <c:v>108.13</c:v>
                </c:pt>
                <c:pt idx="8">
                  <c:v>97.61</c:v>
                </c:pt>
                <c:pt idx="9">
                  <c:v>94.35</c:v>
                </c:pt>
                <c:pt idx="10">
                  <c:v>84.92</c:v>
                </c:pt>
                <c:pt idx="11">
                  <c:v>100.02</c:v>
                </c:pt>
                <c:pt idx="12">
                  <c:v>101.31</c:v>
                </c:pt>
                <c:pt idx="13">
                  <c:v>98.05</c:v>
                </c:pt>
                <c:pt idx="14">
                  <c:v>98.5</c:v>
                </c:pt>
                <c:pt idx="15">
                  <c:v>92.91</c:v>
                </c:pt>
                <c:pt idx="16">
                  <c:v>90.93</c:v>
                </c:pt>
                <c:pt idx="17">
                  <c:v>83.92</c:v>
                </c:pt>
                <c:pt idx="18">
                  <c:v>100.54</c:v>
                </c:pt>
                <c:pt idx="19">
                  <c:v>98.8</c:v>
                </c:pt>
                <c:pt idx="20">
                  <c:v>98</c:v>
                </c:pt>
                <c:pt idx="21">
                  <c:v>103.13</c:v>
                </c:pt>
                <c:pt idx="22">
                  <c:v>99.21</c:v>
                </c:pt>
                <c:pt idx="23">
                  <c:v>89.21</c:v>
                </c:pt>
                <c:pt idx="24">
                  <c:v>100.75</c:v>
                </c:pt>
                <c:pt idx="25">
                  <c:v>97.66</c:v>
                </c:pt>
                <c:pt idx="26">
                  <c:v>92.25</c:v>
                </c:pt>
                <c:pt idx="27">
                  <c:v>100.92</c:v>
                </c:pt>
                <c:pt idx="28">
                  <c:v>107.02</c:v>
                </c:pt>
                <c:pt idx="29">
                  <c:v>97.53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Индекс, среднее = 100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3627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Расходы, млн</c:v>
          </c:tx>
          <c:spPr>
            <a:solidFill xmlns:a="http://schemas.openxmlformats.org/drawingml/2006/main">
              <a:srgbClr val="156CC1"/>
            </a:solidFill>
          </c:spPr>
          <c:cat>
            <c:strRef>
              <c:f>'Chart Data'!$A$2:$A$3</c:f>
              <c:strCache>
                <c:ptCount val="2"/>
                <c:pt idx="0">
                  <c:v>С совпавшим визитом</c:v>
                </c:pt>
                <c:pt idx="1">
                  <c:v>Без совпавшей группы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4.22</c:v>
                </c:pt>
                <c:pt idx="1">
                  <c:v>2.21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525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Млн денежных единиц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546B8-9F3C-4263-BC2D-AA57EBA1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Онлайн-школа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B71C0-7DDC-43AF-AF5A-EE8FF657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D069C-62E4-4CC5-85DD-D3192260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Эффективность маркетинга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B0FFA-5D45-4970-8B15-8C3386CD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6CC1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56CC1"/>
                </a:solidFill>
                <a:latin typeface="Arial"/>
                <a:ea typeface="Arial"/>
                <a:cs typeface="Arial"/>
              </a:rPr>
              <a:t>Last Paid Click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DFB8D-BBB3-43F9-AB19-1EF8222B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1–30 июня 2023 года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511C8-8E94-4E0B-8541-13172A61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Владимир Шкарин</a:t>
            </a:r>
          </a:p>
        </p:txBody>
      </p:sp>
    </p:spTree>
    <p:extLst>
      <p:ext uri="{BB962C8B-B14F-4D97-AF65-F5344CB8AC3E}">
        <p14:creationId xmlns:p14="http://schemas.microsoft.com/office/powerpoint/2010/main" val="746740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06861-A8A8-457F-ACCD-45C731E4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Данные и модель атрибуции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3BC41-5EC9-489A-A394-2A99A837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A6262-9451-4AEE-95D5-8E7B66E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6CC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6CC1"/>
                </a:solidFill>
                <a:latin typeface="Arial"/>
                <a:ea typeface="Arial"/>
                <a:cs typeface="Arial"/>
              </a:rPr>
              <a:t>169 140 пользователей и 233 342 сессии сайта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9D659-51F1-4826-817B-A4CC7533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В CRM: 1 300 лидов, 205 успешных сделок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EBC38-B87D-4B3A-9F16-9EEC8668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5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Для посетителя выбираем последний платный визит июня.</a:t>
            </a:r>
          </a:p>
          <a:p xmlns:a="http://schemas.openxmlformats.org/drawingml/2006/main">
            <a:pPr>
              <a:defRPr sz="225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Связываем лид, если он возник во время визита или позже.</a:t>
            </a:r>
          </a:p>
          <a:p xmlns:a="http://schemas.openxmlformats.org/drawingml/2006/main">
            <a:pPr>
              <a:defRPr sz="225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Модель связывает 706 лидов и 83 успешные сделки.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BB4AD-A3CB-4D9F-9826-3D7AF85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Платные medium: cpc, cpm, cpa, youtube, cpp, tg, social.</a:t>
            </a:r>
          </a:p>
          <a:p xmlns:a="http://schemas.openxmlformats.org/drawingml/2006/main">
            <a:pPr>
              <a:defRPr sz="16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Статус успешной сделки: 142. Денежные единицы базы, валюта не задана.</a:t>
            </a:r>
          </a:p>
        </p:txBody>
      </p:sp>
    </p:spTree>
    <p:extLst>
      <p:ext uri="{BB962C8B-B14F-4D97-AF65-F5344CB8AC3E}">
        <p14:creationId xmlns:p14="http://schemas.microsoft.com/office/powerpoint/2010/main" val="1821371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423C8-7BDF-461C-9FBE-5E4B1934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VK окупается по рекламным расходам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944E0-EB5F-433C-AFE1-007654A2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0c75f66151427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0D6EA-FA0E-4693-9597-1E92A53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55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557"/>
                </a:solidFill>
                <a:latin typeface="Arial"/>
                <a:ea typeface="Arial"/>
                <a:cs typeface="Arial"/>
              </a:rPr>
              <a:t>VK: +37,05%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04FAF-4A85-4A10-BD39-CC1572A5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034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03435"/>
                </a:solidFill>
                <a:latin typeface="Arial"/>
                <a:ea typeface="Arial"/>
                <a:cs typeface="Arial"/>
              </a:rPr>
              <a:t>Яндекс: −10,29%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545FC-4C37-4717-AD83-1C1D3223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3524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VK приносит 1,02 млн</a:t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при расходах 0,75 млн.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Яндекс приносит 5,10 млн</a:t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при расходах 5,68 млн.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1C316-D11A-45C4-B26F-949736E2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ROI учитывает только рекламные расходы. Расходы на обучение и другие затраты сюда не входят.</a:t>
            </a:r>
          </a:p>
        </p:txBody>
      </p:sp>
    </p:spTree>
    <p:extLst>
      <p:ext uri="{BB962C8B-B14F-4D97-AF65-F5344CB8AC3E}">
        <p14:creationId xmlns:p14="http://schemas.microsoft.com/office/powerpoint/2010/main" val="134877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4FD75-A75D-4D5B-9FA6-3E98D4A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Кампании отличаются сильнее, чем 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5201E-8422-472F-992B-6EEBE235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0c74ff88bb4f1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4D6B7-0837-48F1-8E07-AE5B71F8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6CC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6CC1"/>
                </a:solidFill>
                <a:latin typeface="Arial"/>
                <a:ea typeface="Arial"/>
                <a:cs typeface="Arial"/>
              </a:rPr>
              <a:t>Яндекс freemium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19C5A-D898-440F-B026-A4F70558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ROI +229,81%</a:t>
            </a:r>
          </a:p>
          <a:p xmlns:a="http://schemas.openxmlformats.org/drawingml/2006/main">
            <a:pPr>
              <a:defRPr sz="225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25 успешных сделок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70D3D-DA65-4572-AA24-3842C3D9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524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prof-frontend, prof-python</a:t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и prof-java в Яндексе</a:t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показывают отрицательный</a:t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ROI при больших расходах.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5C044-D464-4F52-B467-F342577A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Сравнение за июнь. Небольшое число сделок делает оценки отдельных кампаний нестабильными.</a:t>
            </a:r>
          </a:p>
        </p:txBody>
      </p:sp>
    </p:spTree>
    <p:extLst>
      <p:ext uri="{BB962C8B-B14F-4D97-AF65-F5344CB8AC3E}">
        <p14:creationId xmlns:p14="http://schemas.microsoft.com/office/powerpoint/2010/main" val="757109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00291-2DF3-4912-AB3E-9272159C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Платная воронка теряет большую часть посетителей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B86A5-CDBE-46D5-B5AA-FA41A566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2b72a3dd044d4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6EE91-2CD5-4642-B490-667E7FB6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6CC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6CC1"/>
                </a:solidFill>
                <a:latin typeface="Arial"/>
                <a:ea typeface="Arial"/>
                <a:cs typeface="Arial"/>
              </a:rPr>
              <a:t>38 567 посетителей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97F1E-1E93-482A-ADD1-114F7A9D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3524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1,83% оставляют лид.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11,76% связанных лидов</a:t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становятся успешными</a:t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сделками.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Итоговая конверсия</a:t>
            </a:r>
          </a:p>
          <a:p xmlns:a="http://schemas.openxmlformats.org/drawingml/2006/main">
            <a:pPr>
              <a:defRPr sz="2025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посетителя в сделку: 0,22%.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4B092-2398-45B3-B362-CBA0CBCD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Показатели относятся к витрине Last Paid Click, а не ко всем пользователям сайта.</a:t>
            </a:r>
          </a:p>
        </p:txBody>
      </p:sp>
    </p:spTree>
    <p:extLst>
      <p:ext uri="{BB962C8B-B14F-4D97-AF65-F5344CB8AC3E}">
        <p14:creationId xmlns:p14="http://schemas.microsoft.com/office/powerpoint/2010/main" val="1309252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2BBBD-3C41-4421-B7DB-C3D3E58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Срок оценки кампании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E561B-CDC1-4689-98FE-99229371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23523-6041-458B-8586-C5A78C8F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6CC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6CC1"/>
                </a:solidFill>
                <a:latin typeface="Arial"/>
                <a:ea typeface="Arial"/>
                <a:cs typeface="Arial"/>
              </a:rPr>
              <a:t>90% лидов появляются за 25,28 дня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D2E61-64D5-459B-B367-279281E1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Расчёт измеряет время от последнего платного визита</a:t>
            </a:r>
          </a:p>
          <a:p xmlns:a="http://schemas.openxmlformats.org/drawingml/2006/main">
            <a:pPr>
              <a:defRPr sz="24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до создания лида для 706 связанных лидов.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7C695-3484-457E-AF6C-B34282AD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Для предварительной оценки лидогенерации ориентир — 26 дней.</a:t>
            </a:r>
          </a:p>
          <a:p xmlns:a="http://schemas.openxmlformats.org/drawingml/2006/main">
            <a:pPr>
              <a:defRPr sz="225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Для оценки продаж нужна дата закрытия сделки и зрелые когорты.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644C2-3B99-48F3-AEC3-8616A692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В базе нет даты закрытия. Распределение по одному июню ограничивает перенос результата на новые кампании.</a:t>
            </a:r>
          </a:p>
        </p:txBody>
      </p:sp>
    </p:spTree>
    <p:extLst>
      <p:ext uri="{BB962C8B-B14F-4D97-AF65-F5344CB8AC3E}">
        <p14:creationId xmlns:p14="http://schemas.microsoft.com/office/powerpoint/2010/main" val="957876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C6001-5A26-454C-A35D-85D95D7E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Связь рекламы с органикой остаётся слабой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ED551-CC96-4F39-A23E-CD56B04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ea8f2e8b0d41c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5E526-02F4-44D2-9551-D58E80C3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6CC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6CC1"/>
                </a:solidFill>
                <a:latin typeface="Arial"/>
                <a:ea typeface="Arial"/>
                <a:cs typeface="Arial"/>
              </a:rPr>
              <a:t>Корреляция: 0,287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50684-3A16-4356-858F-DC4B2256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3524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30 дневных наблюдений.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Совместное изменение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расходов и органики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не доказывает влияние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рекламы на органику.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2F149-0B04-48E4-A5F2-4D30290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Органика: medium = organic. Для проверки эффекта нужны даты запуска и контрольная группа.</a:t>
            </a:r>
          </a:p>
        </p:txBody>
      </p:sp>
    </p:spTree>
    <p:extLst>
      <p:ext uri="{BB962C8B-B14F-4D97-AF65-F5344CB8AC3E}">
        <p14:creationId xmlns:p14="http://schemas.microsoft.com/office/powerpoint/2010/main" val="643156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DA79E-D381-4691-8553-B9E7039C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Все расходы важны для оценки окупаемости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AB0A3-8F90-4E1E-BDA5-E557ADCB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098ba2f934417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4DFA1-D70A-4A73-9E9F-0A238D0B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52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6CC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6CC1"/>
                </a:solidFill>
                <a:latin typeface="Arial"/>
                <a:ea typeface="Arial"/>
                <a:cs typeface="Arial"/>
              </a:rPr>
              <a:t>2,21 млн расходов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F7E0D-75CF-4781-A0BB-98021000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3524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не имеют совпавшей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группы даты и UTM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в витрине визитов.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Дашборд сохраняет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полные 6,43 млн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расходов кабинетов.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D4E34-22E8-486A-BC03-F3BBFAC7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Витрина шага 4 сохраняет заданное соединение по визитам. Для дашборда расходы считаем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925155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6C325-9024-433F-882C-6B13E20F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A"/>
                </a:solidFill>
                <a:latin typeface="Arial"/>
                <a:ea typeface="Arial"/>
                <a:cs typeface="Arial"/>
              </a:rPr>
              <a:t>Решения для маркетинговой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BCA30-6D40-4970-AF5B-691EE82F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01460-67FF-4EAA-8C68-9E43961C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5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557"/>
                </a:solidFill>
                <a:latin typeface="Arial"/>
                <a:ea typeface="Arial"/>
                <a:cs typeface="Arial"/>
              </a:rPr>
              <a:t>Сохранить и наблюдать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FFC8B-526B-4E6B-94D6-EBB56302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VK в целом, Яндекс freemium и base-python окупаются по рекламе.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Масштабирование стоит проверять на небольшом тестовом бюджете.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1E842-EF95-4255-94C9-D9848BF6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034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03435"/>
                </a:solidFill>
                <a:latin typeface="Arial"/>
                <a:ea typeface="Arial"/>
                <a:cs typeface="Arial"/>
              </a:rPr>
              <a:t>Пересмотреть дорогие кампании Яндекса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01ACB-FF24-4C7B-B170-9BCE6A4A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prof-frontend, prof-python и prof-java: проверить воронку и UTM.</a:t>
            </a:r>
          </a:p>
          <a:p xmlns:a="http://schemas.openxmlformats.org/drawingml/2006/main">
            <a:pPr>
              <a:defRPr sz="2100" b="0">
                <a:solidFill>
                  <a:srgbClr val="1525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A"/>
                </a:solidFill>
                <a:latin typeface="Arial"/>
                <a:ea typeface="Arial"/>
                <a:cs typeface="Arial"/>
              </a:rPr>
              <a:t>При устойчивом отрицательном ROI сократить или остановить кампании.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43918-6676-418B-B195-275D86E3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6CC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6CC1"/>
                </a:solidFill>
                <a:latin typeface="Arial"/>
                <a:ea typeface="Arial"/>
                <a:cs typeface="Arial"/>
              </a:rPr>
              <a:t>Интерактивный дашборд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21026-267E-458D-B6C9-FF428FE9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2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276"/>
                </a:solidFill>
                <a:latin typeface="Arial"/>
                <a:ea typeface="Arial"/>
                <a:cs typeface="Arial"/>
              </a:rPr>
              <a:t>https://github.com/hypnozer/data-analytics-project-96/blob/main/dashboard.html</a:t>
            </a:r>
          </a:p>
        </p:txBody>
      </p:sp>
    </p:spTree>
    <p:extLst>
      <p:ext uri="{BB962C8B-B14F-4D97-AF65-F5344CB8AC3E}">
        <p14:creationId xmlns:p14="http://schemas.microsoft.com/office/powerpoint/2010/main" val="2112543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2026-09-13T05:04:50.6080000Z</dcterms:created>
  <dcterms:modified xsi:type="dcterms:W3CDTF">2026-09-13T05:04:50.6090000Z</dcterms:modified>
</coreProperties>
</file>